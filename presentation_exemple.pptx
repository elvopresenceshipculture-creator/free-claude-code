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L'ÈRE DES AGENTS AUTONOMES</a:t>
            </a:r>
          </a:p>
          <a:p>
            <a:pPr>
              <a:spcBef>
                <a:spcPts val="1500"/>
              </a:spcBef>
              <a:defRPr sz="2200">
                <a:solidFill>
                  <a:srgbClr val="0EA5E9"/>
                </a:solidFill>
                <a:latin typeface="Segoe UI"/>
              </a:defRPr>
            </a:pPr>
            <a:r>
              <a:t>Redéfinir le futur du logiciel, de l'entreprise et de l'ingénierie</a:t>
            </a:r>
          </a:p>
          <a:p>
            <a:pPr>
              <a:spcBef>
                <a:spcPts val="4000"/>
              </a:spcBef>
              <a:defRPr sz="1400">
                <a:solidFill>
                  <a:srgbClr val="64748B"/>
                </a:solidFill>
                <a:latin typeface="Segoe UI"/>
              </a:defRPr>
            </a:pPr>
            <a:r>
              <a:t>Présentation interactive générée par Claude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Sommaire de la présentation</a:t>
            </a:r>
          </a:p>
          <a:p>
            <a:pPr>
              <a:spcBef>
                <a:spcPts val="500"/>
              </a:spcBef>
              <a:defRPr sz="1600">
                <a:solidFill>
                  <a:srgbClr val="64748B"/>
                </a:solidFill>
              </a:defRPr>
            </a:pPr>
            <a:r>
              <a:t>Les 4 axes stratégiques de la transformation autonome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237744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01</a:t>
            </a:r>
          </a:p>
          <a:p>
            <a:pPr>
              <a:spcBef>
                <a:spcPts val="1500"/>
              </a:spcBef>
              <a:defRPr sz="1800" b="1">
                <a:solidFill>
                  <a:srgbClr val="0F172A"/>
                </a:solidFill>
              </a:defRPr>
            </a:pPr>
            <a:r>
              <a:t>Mutation des Modèles</a:t>
            </a:r>
          </a:p>
          <a:p>
            <a:pPr>
              <a:spcBef>
                <a:spcPts val="1000"/>
              </a:spcBef>
              <a:defRPr sz="1400">
                <a:solidFill>
                  <a:srgbClr val="64748B"/>
                </a:solidFill>
              </a:defRPr>
            </a:pPr>
            <a:r>
              <a:t>Du chatbot conversationnel à l'exécution de workflows autonomes multi-étapes.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75304" y="2011680"/>
            <a:ext cx="237744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02</a:t>
            </a:r>
          </a:p>
          <a:p>
            <a:pPr>
              <a:spcBef>
                <a:spcPts val="1500"/>
              </a:spcBef>
              <a:defRPr sz="1800" b="1">
                <a:solidFill>
                  <a:srgbClr val="0F172A"/>
                </a:solidFill>
              </a:defRPr>
            </a:pPr>
            <a:r>
              <a:t>Architecture &amp; Sécurité</a:t>
            </a:r>
          </a:p>
          <a:p>
            <a:pPr>
              <a:spcBef>
                <a:spcPts val="1000"/>
              </a:spcBef>
              <a:defRPr sz="1400">
                <a:solidFill>
                  <a:srgbClr val="64748B"/>
                </a:solidFill>
              </a:defRPr>
            </a:pPr>
            <a:r>
              <a:t>Fiabilité, vérification rigoureuse et gouvernance des agents en production.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6208" y="2011680"/>
            <a:ext cx="237744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03</a:t>
            </a:r>
          </a:p>
          <a:p>
            <a:pPr>
              <a:spcBef>
                <a:spcPts val="1500"/>
              </a:spcBef>
              <a:defRPr sz="1800" b="1">
                <a:solidFill>
                  <a:srgbClr val="0F172A"/>
                </a:solidFill>
              </a:defRPr>
            </a:pPr>
            <a:r>
              <a:t>Cas d'Usage Métier</a:t>
            </a:r>
          </a:p>
          <a:p>
            <a:pPr>
              <a:spcBef>
                <a:spcPts val="1000"/>
              </a:spcBef>
              <a:defRPr sz="1400">
                <a:solidFill>
                  <a:srgbClr val="64748B"/>
                </a:solidFill>
              </a:defRPr>
            </a:pPr>
            <a:r>
              <a:t>Automatisation logicielle, support intelligent et accélération de la R&amp;D.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97112" y="2011680"/>
            <a:ext cx="237744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/>
          <a:lstStyle/>
          <a:p>
            <a:pPr algn="ctr">
              <a:defRPr sz="2800" b="1">
                <a:solidFill>
                  <a:srgbClr val="2563EB"/>
                </a:solidFill>
              </a:defRPr>
            </a:pPr>
            <a:r>
              <a:t>04</a:t>
            </a:r>
          </a:p>
          <a:p>
            <a:pPr>
              <a:spcBef>
                <a:spcPts val="1500"/>
              </a:spcBef>
              <a:defRPr sz="1800" b="1">
                <a:solidFill>
                  <a:srgbClr val="0F172A"/>
                </a:solidFill>
              </a:defRPr>
            </a:pPr>
            <a:r>
              <a:t>Vision &amp; Perspectives</a:t>
            </a:r>
          </a:p>
          <a:p>
            <a:pPr>
              <a:spcBef>
                <a:spcPts val="1000"/>
              </a:spcBef>
              <a:defRPr sz="1400">
                <a:solidFill>
                  <a:srgbClr val="64748B"/>
                </a:solidFill>
              </a:defRPr>
            </a:pPr>
            <a:r>
              <a:t>Vers une symbiose homme-machine durable, éthique et souveraine.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01. La Mutation des Modèles d'IA</a:t>
            </a:r>
          </a:p>
          <a:p>
            <a:pPr>
              <a:spcBef>
                <a:spcPts val="500"/>
              </a:spcBef>
              <a:defRPr sz="1600">
                <a:solidFill>
                  <a:srgbClr val="64748B"/>
                </a:solidFill>
              </a:defRPr>
            </a:pPr>
            <a:r>
              <a:t>Comment l'industrie passe de la simple génération de texte à l'orchestration d'agents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50292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 rIns="365760"/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Modèle Réactif Traditionnel</a:t>
            </a:r>
          </a:p>
          <a:p>
            <a:pPr>
              <a:spcBef>
                <a:spcPts val="1500"/>
              </a:spcBef>
              <a:defRPr sz="1500">
                <a:solidFill>
                  <a:srgbClr val="0F172A"/>
                </a:solidFill>
              </a:defRPr>
            </a:pPr>
            <a:r>
              <a:t>• Interaction basée sur un tour unique (Question / Réponse).</a:t>
            </a:r>
          </a:p>
          <a:p>
            <a:pPr>
              <a:spcBef>
                <a:spcPts val="1500"/>
              </a:spcBef>
              <a:defRPr sz="1500">
                <a:solidFill>
                  <a:srgbClr val="0F172A"/>
                </a:solidFill>
              </a:defRPr>
            </a:pPr>
            <a:r>
              <a:t>• Absence de persistance d'état et de mémoire contextuelle complexe.</a:t>
            </a:r>
          </a:p>
          <a:p>
            <a:pPr>
              <a:spcBef>
                <a:spcPts val="1500"/>
              </a:spcBef>
              <a:defRPr sz="1500">
                <a:solidFill>
                  <a:srgbClr val="0F172A"/>
                </a:solidFill>
              </a:defRPr>
            </a:pPr>
            <a:r>
              <a:t>• Intervention humaine requise à chaque étape de validation.</a:t>
            </a:r>
          </a:p>
          <a:p>
            <a:pPr>
              <a:spcBef>
                <a:spcPts val="1500"/>
              </a:spcBef>
              <a:defRPr sz="1500">
                <a:solidFill>
                  <a:srgbClr val="0F172A"/>
                </a:solidFill>
              </a:defRPr>
            </a:pPr>
            <a:r>
              <a:t>• Adapté aux tâches textuelles simples et à la recherche documentaire.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095" y="2011680"/>
            <a:ext cx="50292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 rIns="365760"/>
          <a:lstStyle/>
          <a:p>
            <a:pPr algn="ctr">
              <a:defRPr sz="2000" b="1">
                <a:solidFill>
                  <a:srgbClr val="0EA5E9"/>
                </a:solidFill>
              </a:defRPr>
            </a:pPr>
            <a:r>
              <a:t>Système d'Agents Autonomes</a:t>
            </a:r>
          </a:p>
          <a:p>
            <a:pPr>
              <a:spcBef>
                <a:spcPts val="1500"/>
              </a:spcBef>
              <a:defRPr sz="1500">
                <a:solidFill>
                  <a:srgbClr val="0F172A"/>
                </a:solidFill>
              </a:defRPr>
            </a:pPr>
            <a:r>
              <a:t>• Planification dynamique et décomposition de tâches complexes.</a:t>
            </a:r>
          </a:p>
          <a:p>
            <a:pPr>
              <a:spcBef>
                <a:spcPts val="1500"/>
              </a:spcBef>
              <a:defRPr sz="1500">
                <a:solidFill>
                  <a:srgbClr val="0F172A"/>
                </a:solidFill>
              </a:defRPr>
            </a:pPr>
            <a:r>
              <a:t>• Utilisation d'outils spécialisés (recherche, exécution de code, APIs).</a:t>
            </a:r>
          </a:p>
          <a:p>
            <a:pPr>
              <a:spcBef>
                <a:spcPts val="1500"/>
              </a:spcBef>
              <a:defRPr sz="1500">
                <a:solidFill>
                  <a:srgbClr val="0F172A"/>
                </a:solidFill>
              </a:defRPr>
            </a:pPr>
            <a:r>
              <a:t>• Boucles de rétroaction et auto-correction en cas d'erreur.</a:t>
            </a:r>
          </a:p>
          <a:p>
            <a:pPr>
              <a:spcBef>
                <a:spcPts val="1500"/>
              </a:spcBef>
              <a:defRPr sz="1500">
                <a:solidFill>
                  <a:srgbClr val="0F172A"/>
                </a:solidFill>
              </a:defRPr>
            </a:pPr>
            <a:r>
              <a:t>• Capacité d'exécuter des workflows complets de bout en bout.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Prêt à transformer votre organisation ?</a:t>
            </a:r>
          </a:p>
          <a:p>
            <a:pPr>
              <a:spcBef>
                <a:spcPts val="2000"/>
              </a:spcBef>
              <a:defRPr sz="1800">
                <a:solidFill>
                  <a:srgbClr val="0EA5E9"/>
                </a:solidFill>
              </a:defRPr>
            </a:pPr>
            <a:r>
              <a:t>L'intégration d'agents autonomes et d'assistants intelligents propulsés par les modèles de pointe n'est plus une option futuriste, c'est le standard de compétitivité de demain.</a:t>
            </a:r>
          </a:p>
          <a:p>
            <a:pPr>
              <a:spcBef>
                <a:spcPts val="3000"/>
              </a:spcBef>
              <a:defRPr sz="1600">
                <a:solidFill>
                  <a:srgbClr val="64748B"/>
                </a:solidFill>
              </a:defRPr>
            </a:pPr>
            <a:r>
              <a:t>• Qualité zero-defect • Architecture modulaire • Efficacité maximale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